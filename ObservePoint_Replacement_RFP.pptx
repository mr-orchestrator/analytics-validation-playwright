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" y="0"/>
            <a:ext cx="12124944" cy="6858000"/>
          </a:xfrm>
          <a:prstGeom prst="rect">
            <a:avLst/>
          </a:prstGeom>
          <a:solidFill>
            <a:srgbClr val="07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164592"/>
            <a:ext cx="3108960" cy="310896"/>
          </a:xfrm>
          <a:prstGeom prst="rect">
            <a:avLst/>
          </a:prstGeom>
          <a:solidFill>
            <a:srgbClr val="18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737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96B0"/>
                </a:solidFill>
              </a:rPr>
              <a:t>STRICTLY CONFIDENTIAL  |  BOARD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STRATEGIC INVESTMENT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5331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Replacing ObservePoint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8CE82"/>
                </a:solidFill>
              </a:rPr>
              <a:t>with Playwright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10128"/>
            <a:ext cx="475488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015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8DCE8"/>
                </a:solidFill>
              </a:rPr>
              <a:t>Analytics Validation Platform  —  Airline Technology Division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05072"/>
            <a:ext cx="36118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CE82"/>
                </a:solidFill>
              </a:rPr>
              <a:t>$28,800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451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</a:rPr>
              <a:t>Annual saving from Day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005072"/>
            <a:ext cx="36118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CE82"/>
                </a:solidFill>
              </a:rPr>
              <a:t>43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6451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</a:rPr>
              <a:t>To contract end (March 30)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4005072"/>
            <a:ext cx="36118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411480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CE82"/>
                </a:solidFill>
              </a:rPr>
              <a:t>POC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6451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</a:rPr>
              <a:t>Validated. Not a proposal — a plan.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</a:rPr>
              <a:t>Prepared by  Director of Global Sales &amp; 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6B0"/>
                </a:solidFill>
              </a:rPr>
              <a:t>February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Situation in 30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3703320" cy="4434840"/>
          </a:xfrm>
          <a:prstGeom prst="rect">
            <a:avLst/>
          </a:prstGeom>
          <a:solidFill>
            <a:srgbClr val="0D1D3A"/>
          </a:solidFill>
          <a:ln w="9525">
            <a:solidFill>
              <a:srgbClr val="BF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07008"/>
            <a:ext cx="3703320" cy="64008"/>
          </a:xfrm>
          <a:prstGeom prst="rect">
            <a:avLst/>
          </a:prstGeom>
          <a:solidFill>
            <a:srgbClr val="B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2222"/>
                </a:solidFill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719072"/>
            <a:ext cx="3200400" cy="18288"/>
          </a:xfrm>
          <a:prstGeom prst="rect">
            <a:avLst/>
          </a:prstGeom>
          <a:solidFill>
            <a:srgbClr val="B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28800"/>
            <a:ext cx="33649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DCE8"/>
                </a:solidFill>
              </a:rPr>
              <a:t>ObservePoint contract ends
March 30, 2026.
Current cost: $2,400/month.
No renewal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207008"/>
            <a:ext cx="3703320" cy="4434840"/>
          </a:xfrm>
          <a:prstGeom prst="rect">
            <a:avLst/>
          </a:prstGeom>
          <a:solidFill>
            <a:srgbClr val="0D1D3A"/>
          </a:solidFill>
          <a:ln w="9525">
            <a:solidFill>
              <a:srgbClr val="1A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207008"/>
            <a:ext cx="3703320" cy="64008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96"/>
                </a:solidFill>
              </a:rPr>
              <a:t>THE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1719072"/>
            <a:ext cx="3200400" cy="18288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828800"/>
            <a:ext cx="33649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DCE8"/>
                </a:solidFill>
              </a:rPr>
              <a:t>In-house Playwright platform.
POC already built and validated.
Covers all 4 airline flows.
Zero vendor dependency.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5" y="1207008"/>
            <a:ext cx="3703320" cy="4434840"/>
          </a:xfrm>
          <a:prstGeom prst="rect">
            <a:avLst/>
          </a:prstGeom>
          <a:solidFill>
            <a:srgbClr val="0D1D3A"/>
          </a:solidFill>
          <a:ln w="9525">
            <a:solidFill>
              <a:srgbClr val="27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5" y="1207008"/>
            <a:ext cx="3703320" cy="6400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360"/>
                </a:solidFill>
              </a:rPr>
              <a:t>THE 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5047" y="1719072"/>
            <a:ext cx="3200400" cy="1828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7" y="1828800"/>
            <a:ext cx="33649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DCE8"/>
                </a:solidFill>
              </a:rPr>
              <a:t>$26,000–$28,800 saved annually.
Full capability maintained.
We own the platform forever.
Deployed before March 30.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870448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C9A84C"/>
                </a:solidFill>
              </a:rPr>
              <a:t>Leadership decision required:  Approve 6-week engineering engagement to complete platform and cut over before March 30 deadline.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FINANCIAL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Numbers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4160520" cy="3474720"/>
          </a:xfrm>
          <a:prstGeom prst="rect">
            <a:avLst/>
          </a:prstGeom>
          <a:solidFill>
            <a:srgbClr val="1A0808"/>
          </a:solidFill>
          <a:ln w="9525">
            <a:solidFill>
              <a:srgbClr val="BF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4160520" cy="64008"/>
          </a:xfrm>
          <a:prstGeom prst="rect">
            <a:avLst/>
          </a:prstGeom>
          <a:solidFill>
            <a:srgbClr val="B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2222"/>
                </a:solidFill>
              </a:rPr>
              <a:t>CURRENT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DCE8"/>
                </a:solidFill>
              </a:rPr>
              <a:t>ObservePoint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5A5A"/>
                </a:solidFill>
              </a:rPr>
              <a:t>$2,400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26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8DCE8"/>
                </a:solidFill>
              </a:rPr>
              <a:t>per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91840"/>
            <a:ext cx="3749039" cy="18288"/>
          </a:xfrm>
          <a:prstGeom prst="rect">
            <a:avLst/>
          </a:prstGeom>
          <a:solidFill>
            <a:srgbClr val="B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83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A5A"/>
                </a:solidFill>
              </a:rPr>
              <a:t>$28,800  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03904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</a:rPr>
              <a:t>Professional Tier licence
Expires March 30,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56032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9A84C"/>
                </a:solidFill>
              </a:rPr>
              <a:t>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2735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</a:rPr>
              <a:t>REPLACE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261872"/>
            <a:ext cx="4160520" cy="3474720"/>
          </a:xfrm>
          <a:prstGeom prst="rect">
            <a:avLst/>
          </a:prstGeom>
          <a:solidFill>
            <a:srgbClr val="05180D"/>
          </a:solidFill>
          <a:ln w="9525">
            <a:solidFill>
              <a:srgbClr val="27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261872"/>
            <a:ext cx="4160520" cy="6400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13898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360"/>
                </a:solidFill>
              </a:rPr>
              <a:t>PLAYWRIGHT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170078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8DCE8"/>
                </a:solidFill>
              </a:rPr>
              <a:t>In-House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084831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5AFFA0"/>
                </a:solidFill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926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8DCE8"/>
                </a:solidFill>
              </a:rPr>
              <a:t>licence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291840"/>
            <a:ext cx="3749039" cy="1828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3383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FFA0"/>
                </a:solidFill>
              </a:rPr>
              <a:t>$0–$2,400  per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803904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</a:rPr>
              <a:t>Infrastructure only (CI/CD)
Open source — MIT licence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78440" y="1261872"/>
            <a:ext cx="1508760" cy="3474720"/>
          </a:xfrm>
          <a:prstGeom prst="rect">
            <a:avLst/>
          </a:prstGeom>
          <a:solidFill>
            <a:srgbClr val="0D1D3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1417320"/>
            <a:ext cx="1444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</a:rPr>
              <a:t>ANNUAL
SAVING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2121408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E82"/>
                </a:solidFill>
              </a:rPr>
              <a:t>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2468879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E82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5872" y="2816352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E82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05872" y="3163824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E82"/>
                </a:solidFill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351129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E82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3858768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E82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05872" y="420624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E82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956048"/>
            <a:ext cx="11338560" cy="1170432"/>
          </a:xfrm>
          <a:prstGeom prst="rect">
            <a:avLst/>
          </a:prstGeom>
          <a:solidFill>
            <a:srgbClr val="102010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956048"/>
            <a:ext cx="113385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065776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6B0"/>
                </a:solidFill>
              </a:rPr>
              <a:t>PAYBACK PERIOD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285232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CE82"/>
                </a:solidFill>
              </a:rPr>
              <a:t>&lt; 30 Days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5074920"/>
            <a:ext cx="36576" cy="868680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5065776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6B0"/>
                </a:solidFill>
              </a:rPr>
              <a:t>5-YEAR SAVING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5285232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CE82"/>
                </a:solidFill>
              </a:rPr>
              <a:t>$132,000+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5074920"/>
            <a:ext cx="36576" cy="868680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065776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6B0"/>
                </a:solidFill>
              </a:rPr>
              <a:t>ENGINEERING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285232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CE82"/>
                </a:solidFill>
              </a:rPr>
              <a:t>~240 Hours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5074920"/>
            <a:ext cx="36576" cy="868680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5065776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6B0"/>
                </a:solidFill>
              </a:rPr>
              <a:t>RISK LEVEL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5285232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CE82"/>
                </a:solidFill>
              </a:rPr>
              <a:t>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82844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THE
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041648"/>
            <a:ext cx="5943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169663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8DCE8"/>
                </a:solidFill>
              </a:rPr>
              <a:t>Why we cannot stand still — and why this is an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ObservePoint Does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8DCE8"/>
                </a:solidFill>
              </a:rPr>
              <a:t>ObservePoint validates that analytics data is accurate across every step of our airline digital journeys — ensuring what we report to the business is trustworthy.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2788920" cy="2331720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27889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9751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7744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Normal
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30632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</a:rPr>
              <a:t>8 Steps
Search to Confirm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874519"/>
            <a:ext cx="2788920" cy="2331720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874519"/>
            <a:ext cx="27889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19751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37744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MMB
Rebooking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0632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</a:rPr>
              <a:t>6 Steps
Change &amp; Reconfirm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1874519"/>
            <a:ext cx="2788920" cy="2331720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1874519"/>
            <a:ext cx="27889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9751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7744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Online
Check-in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0632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</a:rPr>
              <a:t>6 Steps
Retrieve to Boarding 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4584" y="1874519"/>
            <a:ext cx="2788920" cy="2331720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44584" y="1874519"/>
            <a:ext cx="27889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9751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37744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Cabin
Upgrade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06324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</a:rPr>
              <a:t>5 Steps
Offer to 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37083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At every step we validate three data sources agree: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773168"/>
            <a:ext cx="3703320" cy="15544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E82"/>
                </a:solidFill>
              </a:rPr>
              <a:t>GA4
Network 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CE8"/>
                </a:solidFill>
              </a:rPr>
              <a:t>Beacons sent to Google Analytics 4
Intercepted at HTTP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5212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</a:rPr>
              <a:t>=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4773168"/>
            <a:ext cx="3703320" cy="15544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3128" y="48463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E82"/>
                </a:solidFill>
              </a:rPr>
              <a:t>digitalData Layer
(W3C Standard)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54406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CE8"/>
                </a:solidFill>
              </a:rPr>
              <a:t>window.digitalData object
Airline's master data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5212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</a:rPr>
              <a:t>=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5" y="4773168"/>
            <a:ext cx="3703320" cy="15544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7615" y="484632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E82"/>
                </a:solidFill>
              </a:rPr>
              <a:t>b2t Events
(Action Types)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5" y="54406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CE8"/>
                </a:solidFill>
              </a:rPr>
              <a:t>Custom tagging events per step
With actionType property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THE IMPERATIVE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Three Reasons We Cannot Renew ObservePoint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703320" cy="4343400"/>
          </a:xfrm>
          <a:prstGeom prst="rect">
            <a:avLst/>
          </a:prstGeom>
          <a:solidFill>
            <a:srgbClr val="0D1D3A"/>
          </a:solidFill>
          <a:ln w="9525">
            <a:solidFill>
              <a:srgbClr val="BF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3703320" cy="64008"/>
          </a:xfrm>
          <a:prstGeom prst="rect">
            <a:avLst/>
          </a:prstGeom>
          <a:solidFill>
            <a:srgbClr val="B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298448"/>
            <a:ext cx="594360" cy="201168"/>
          </a:xfrm>
          <a:prstGeom prst="rect">
            <a:avLst/>
          </a:prstGeom>
          <a:solidFill>
            <a:srgbClr val="B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2984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0F1F"/>
                </a:solidFill>
              </a:rPr>
              <a:t>DEADLINE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371600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F2222"/>
                </a:solidFill>
              </a:rPr>
              <a:t>CONTRACT
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02996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March 30,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2487168"/>
            <a:ext cx="3108960" cy="18288"/>
          </a:xfrm>
          <a:prstGeom prst="rect">
            <a:avLst/>
          </a:prstGeom>
          <a:solidFill>
            <a:srgbClr val="B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606040"/>
            <a:ext cx="336499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43 days from today. ObservePoint has confirmed no contract extension is available at current pricing. We go dark on April 1 if we do nothing.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234440"/>
            <a:ext cx="3703320" cy="4343400"/>
          </a:xfrm>
          <a:prstGeom prst="rect">
            <a:avLst/>
          </a:prstGeom>
          <a:solidFill>
            <a:srgbClr val="0D1D3A"/>
          </a:solidFill>
          <a:ln w="9525">
            <a:solidFill>
              <a:srgbClr val="D9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234440"/>
            <a:ext cx="3703320" cy="64008"/>
          </a:xfrm>
          <a:prstGeom prst="rect">
            <a:avLst/>
          </a:prstGeom>
          <a:solidFill>
            <a:srgbClr val="D9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33488" y="1298448"/>
            <a:ext cx="594360" cy="201168"/>
          </a:xfrm>
          <a:prstGeom prst="rect">
            <a:avLst/>
          </a:prstGeom>
          <a:solidFill>
            <a:srgbClr val="D9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12984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0F1F"/>
                </a:solidFill>
              </a:rPr>
              <a:t>FINANCIAL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1371600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E14"/>
                </a:solidFill>
              </a:rPr>
              <a:t>COST IS
EXCESSIVE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02996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$28,800 /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2487168"/>
            <a:ext cx="3108960" cy="18288"/>
          </a:xfrm>
          <a:prstGeom prst="rect">
            <a:avLst/>
          </a:prstGeom>
          <a:solidFill>
            <a:srgbClr val="D9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606040"/>
            <a:ext cx="336499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The Professional tier costs $2,400/month for capabilities our engineering team can build, own, and extend at near-zero marginal cost.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5" y="1234440"/>
            <a:ext cx="3703320" cy="4343400"/>
          </a:xfrm>
          <a:prstGeom prst="rect">
            <a:avLst/>
          </a:prstGeom>
          <a:solidFill>
            <a:srgbClr val="0D1D3A"/>
          </a:solidFill>
          <a:ln w="9525">
            <a:solidFill>
              <a:srgbClr val="1A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5" y="1234440"/>
            <a:ext cx="3703320" cy="64008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37976" y="1298448"/>
            <a:ext cx="594360" cy="201168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37976" y="129844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0F1F"/>
                </a:solidFill>
              </a:rPr>
              <a:t>TECHNICAL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7" y="1371600"/>
            <a:ext cx="3364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296"/>
                </a:solidFill>
              </a:rPr>
              <a:t>PLATFORM
IS 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7" y="2029968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No SPA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85047" y="2487168"/>
            <a:ext cx="3108960" cy="18288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7" y="2606040"/>
            <a:ext cx="336499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ObservePoint was designed for traditional websites. Our airline site is a Single-Page App. SPA journey validation is the #1 complaint in ObservePoint reviews — and our most critical use case.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7607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85216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The good news: our team has already solved this. A Playwright-based replacement is built, tested, and ready to deploy.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82844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OUR
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041648"/>
            <a:ext cx="5943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169663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8DCE8"/>
                </a:solidFill>
              </a:rPr>
              <a:t>Built by our team. Owned by us. Better than what we are replacing.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We Are Not Starting From Zero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8DCE8"/>
                </a:solidFill>
              </a:rPr>
              <a:t>The core platform is built. The following is validated and running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7276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276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GA4 Network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Every analytics beacon intercepted at HTTP layer — GET, POST and sendBeacon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3288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53288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digitalData Layer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window.digitalData captured at every step via in-browser JavaScript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9300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9300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478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b2t Event Listener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587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Array intercept — zero events missed regardless of SPA timing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5312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5312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07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Three-Way Validation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18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GA4 vs digitalData vs b2t — pass/fail per field per flow step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41324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41324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4681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SPA Route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79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history.pushState intercept — every virtual page change detected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157276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157276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6276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Video Recording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19385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Full HD session recording per run — no ObservePoint equivalent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253288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27648" y="253288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5877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Playwright Trace Viewer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8986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Step-by-step DOM + network replay for debugging — far superior to 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349300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27648" y="349300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35478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6-Sheet Excel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38587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GA4 / digitalData / b2t / comparison / network / summary per run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4453128"/>
            <a:ext cx="5715000" cy="841248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27648" y="4453128"/>
            <a:ext cx="54864" cy="84124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4507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E82"/>
                </a:solidFill>
              </a:rPr>
              <a:t>Live Web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4818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Auto-launching results dashboard — pass rate, trends, drill-down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1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382512"/>
            <a:ext cx="12188952" cy="45720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FFB0"/>
                </a:solidFill>
              </a:rPr>
              <a:t>The POC ran successfully. Adapting to the live airline site requires updating URL selectors and field-mapping config only — the validation engine is 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TECHNICAL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SPA Problem — and Why We Solved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1338560" cy="6858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Our airline website is a Single-Page Application (SPA). Pages do not reload between steps — the browser silently updates content. This breaks how ObservePoint detects step boundaries and captures analytics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29968"/>
            <a:ext cx="5440680" cy="3611880"/>
          </a:xfrm>
          <a:prstGeom prst="rect">
            <a:avLst/>
          </a:prstGeom>
          <a:solidFill>
            <a:srgbClr val="180606"/>
          </a:solidFill>
          <a:ln w="9525">
            <a:solidFill>
              <a:srgbClr val="BF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29968"/>
            <a:ext cx="5440680" cy="64008"/>
          </a:xfrm>
          <a:prstGeom prst="rect">
            <a:avLst/>
          </a:prstGeom>
          <a:solidFill>
            <a:srgbClr val="B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2222"/>
                </a:solidFill>
              </a:rPr>
              <a:t>ObservePoint — Breaks on SPAs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  x   Detects page changes via full page reload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358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  x   Uses fixed time delays between steps (fragile)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4655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  x   Cannot detect history.pushState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953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  x   Misses analytics events fired via sendBeacon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251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  x   Cannot wait for a specific data layer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548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888"/>
                </a:solidFill>
              </a:rPr>
              <a:t>  x   Top-cited failure reason in customer reviews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029968"/>
            <a:ext cx="5468112" cy="3611880"/>
          </a:xfrm>
          <a:prstGeom prst="rect">
            <a:avLst/>
          </a:prstGeom>
          <a:solidFill>
            <a:srgbClr val="05180D"/>
          </a:solidFill>
          <a:ln w="9525">
            <a:solidFill>
              <a:srgbClr val="27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029968"/>
            <a:ext cx="5468112" cy="6400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148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360"/>
                </a:solidFill>
              </a:rPr>
              <a:t>Playwright — Built for SPAs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FFB0"/>
                </a:solidFill>
              </a:rPr>
              <a:t>  v   History API intercept detects every SPA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0358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FFB0"/>
                </a:solidFill>
              </a:rPr>
              <a:t>  v   Waits for exact analytics event — never a timer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4655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FFB0"/>
                </a:solidFill>
              </a:rPr>
              <a:t>  v   Detects pushState/replaceState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8953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FFB0"/>
                </a:solidFill>
              </a:rPr>
              <a:t>  v   sendBeacon interceptor — zero missed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3251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FFB0"/>
                </a:solidFill>
              </a:rPr>
              <a:t>  v   Waits for specific b2t actionType to confirm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7548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FFB0"/>
                </a:solidFill>
              </a:rPr>
              <a:t>  v   MutationObserver for modal-based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742432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83387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This is not a future promise — it is already coded and validated in the POC.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CAPABILITY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ObservePoint vs Playwright — Direct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4937760" cy="347472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40680" y="1188720"/>
            <a:ext cx="3154680" cy="347472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1188720"/>
            <a:ext cx="3456432" cy="347472"/>
          </a:xfrm>
          <a:prstGeom prst="rect">
            <a:avLst/>
          </a:prstGeom>
          <a:solidFill>
            <a:srgbClr val="051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88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6B0"/>
                </a:solidFill>
              </a:rPr>
              <a:t>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1887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2222"/>
                </a:solidFill>
              </a:rPr>
              <a:t>ObservePoint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188720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360"/>
                </a:solidFill>
              </a:rPr>
              <a:t>Playwright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54480"/>
            <a:ext cx="493776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1554480"/>
            <a:ext cx="315468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1554480"/>
            <a:ext cx="3456432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55448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Airline multi-step flow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554480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CC88"/>
                </a:solidFill>
              </a:rPr>
              <a:t>v  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55448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Supported + superior 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883664"/>
            <a:ext cx="493776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40680" y="1883664"/>
            <a:ext cx="315468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1883664"/>
            <a:ext cx="3456432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188366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GA4 event capture &amp;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83664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CC88"/>
                </a:solidFill>
              </a:rPr>
              <a:t>v  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188366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Supported + sendBeacon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212848"/>
            <a:ext cx="493776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40680" y="2212848"/>
            <a:ext cx="315468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2212848"/>
            <a:ext cx="3456432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2128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digitalData / data layer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212848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CC88"/>
                </a:solidFill>
              </a:rPr>
              <a:t>v  Supported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2128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Supported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542032"/>
            <a:ext cx="493776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0680" y="2542032"/>
            <a:ext cx="315468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2542032"/>
            <a:ext cx="3456432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254203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b2t events on SPA sites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254203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x  Unreliable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54203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Fully solved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871215"/>
            <a:ext cx="493776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40680" y="2871215"/>
            <a:ext cx="315468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0" y="2871215"/>
            <a:ext cx="3456432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2871215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SPA history.pushState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2871215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x  Not supported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871215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Native capability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200400"/>
            <a:ext cx="493776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40680" y="3200400"/>
            <a:ext cx="315468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0" y="3200400"/>
            <a:ext cx="3456432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320040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Video recording of test sessions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3200400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x  Not available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20040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Built-in HD recording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529584"/>
            <a:ext cx="493776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40680" y="3529584"/>
            <a:ext cx="315468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86800" y="3529584"/>
            <a:ext cx="3456432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52958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Step-by-step trace for debugging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2120" y="3529584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x  Not available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352958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Playwright Trace Viewer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3858768"/>
            <a:ext cx="493776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40680" y="3858768"/>
            <a:ext cx="315468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86800" y="3858768"/>
            <a:ext cx="3456432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385876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Cross-browser (Firefox + Safari)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2120" y="3858768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x  Chromium only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3858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All 3 major engines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4187952"/>
            <a:ext cx="493776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0680" y="4187952"/>
            <a:ext cx="315468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86800" y="4187952"/>
            <a:ext cx="3456432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418795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Complex auth (OAuth / SSO / MFA)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2120" y="418795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x  Fragile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418795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Fully supported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4517136"/>
            <a:ext cx="493776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40680" y="4517136"/>
            <a:ext cx="315468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86800" y="4517136"/>
            <a:ext cx="3456432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" y="451713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Scheduled automated runs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2120" y="4517136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CC88"/>
                </a:solidFill>
              </a:rPr>
              <a:t>v  Built-in SaaS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0" y="451713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GitHub Actions cron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4846320"/>
            <a:ext cx="493776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40680" y="4846320"/>
            <a:ext cx="315468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686800" y="4846320"/>
            <a:ext cx="3456432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" y="484632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Slack / Teams alerting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32120" y="4846320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CC88"/>
                </a:solidFill>
              </a:rPr>
              <a:t>v  Built-in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78240" y="484632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0"/>
                </a:solidFill>
              </a:rPr>
              <a:t>v  Webhook — 1 day to build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480" y="5175504"/>
            <a:ext cx="493776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40680" y="5175504"/>
            <a:ext cx="3154680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686800" y="5175504"/>
            <a:ext cx="3456432" cy="301751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0352" y="517550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No-code GUI for analysts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32120" y="5175504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CC88"/>
                </a:solidFill>
              </a:rPr>
              <a:t>v  Full GUI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78240" y="517550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</a:rPr>
              <a:t>~  YAML config templates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5504688"/>
            <a:ext cx="493776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40680" y="5504688"/>
            <a:ext cx="3154680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686800" y="5504688"/>
            <a:ext cx="3456432" cy="301751"/>
          </a:xfrm>
          <a:prstGeom prst="rect">
            <a:avLst/>
          </a:prstGeom>
          <a:solidFill>
            <a:srgbClr val="0D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0352" y="550468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Cloud-scale crawl 20K+ pages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32120" y="5504688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CC88"/>
                </a:solidFill>
              </a:rPr>
              <a:t>v  Managed cloud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78240" y="550468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</a:rPr>
              <a:t>~  Needs infra (not required)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1480" y="5833872"/>
            <a:ext cx="11365992" cy="256032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5852160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B0"/>
                </a:solidFill>
              </a:rPr>
              <a:t>v = Supported or better    x = Gap or weakness    ~ = Partial / workaround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182844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THE
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041648"/>
            <a:ext cx="5943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169663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8DCE8"/>
                </a:solidFill>
              </a:rPr>
              <a:t>Six weeks. One platform. Owned forever.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6 Weeks to Full Deployment — Before March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901952" cy="987552"/>
          </a:xfrm>
          <a:prstGeom prst="rect">
            <a:avLst/>
          </a:prstGeom>
          <a:solidFill>
            <a:srgbClr val="0D1D3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901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719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</a:rPr>
              <a:t>WK 1
Feb 16–22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04288"/>
            <a:ext cx="1810512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pytest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YAML config per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95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Cookie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68496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Slack alerting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35915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68296" y="1234440"/>
            <a:ext cx="1901952" cy="987552"/>
          </a:xfrm>
          <a:prstGeom prst="rect">
            <a:avLst/>
          </a:prstGeom>
          <a:solidFill>
            <a:srgbClr val="0D1D3A"/>
          </a:solidFill>
          <a:ln w="9525">
            <a:solidFill>
              <a:srgbClr val="27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68296" y="1234440"/>
            <a:ext cx="1901952" cy="54864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9736" y="1298448"/>
            <a:ext cx="1719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360"/>
                </a:solidFill>
              </a:rPr>
              <a:t>WK 2
Feb 23–Mar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9736" y="182880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Booking &amp;
MMB 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8296" y="2304288"/>
            <a:ext cx="1810512" cy="256032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14016" y="265176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All 8 booking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4016" y="309067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All 6 MMB rebook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016" y="35295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b2t + digitalData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68496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3-way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8536" y="235915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1234440"/>
            <a:ext cx="1901952" cy="987552"/>
          </a:xfrm>
          <a:prstGeom prst="rect">
            <a:avLst/>
          </a:prstGeom>
          <a:solidFill>
            <a:srgbClr val="0D1D3A"/>
          </a:solidFill>
          <a:ln w="9525">
            <a:solidFill>
              <a:srgbClr val="27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1234440"/>
            <a:ext cx="1901952" cy="54864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1298448"/>
            <a:ext cx="1719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360"/>
                </a:solidFill>
              </a:rPr>
              <a:t>WK 3
Mar 2–8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182880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Check-in &amp;
Upgrade Flows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5112" y="2304288"/>
            <a:ext cx="1810512" cy="256032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265176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All 6 check-in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309067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All 5 upgrade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35295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SPA wait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3968496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Dashboard tabs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235915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1928" y="1234440"/>
            <a:ext cx="1901952" cy="987552"/>
          </a:xfrm>
          <a:prstGeom prst="rect">
            <a:avLst/>
          </a:prstGeom>
          <a:solidFill>
            <a:srgbClr val="0D1D3A"/>
          </a:solidFill>
          <a:ln w="9525">
            <a:solidFill>
              <a:srgbClr val="1A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1234440"/>
            <a:ext cx="1901952" cy="54864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1298448"/>
            <a:ext cx="1719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296"/>
                </a:solidFill>
              </a:rPr>
              <a:t>WK 4
Mar 9–15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182880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Tag Audit
&amp; Privacy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1928" y="2304288"/>
            <a:ext cx="1810512" cy="256032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265176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Sitemap crawl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09067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Tag presence 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35295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Pre-consent scan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3968496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GPC 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2167" y="235915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&gt;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38744" y="1234440"/>
            <a:ext cx="1901952" cy="987552"/>
          </a:xfrm>
          <a:prstGeom prst="rect">
            <a:avLst/>
          </a:prstGeom>
          <a:solidFill>
            <a:srgbClr val="0D1D3A"/>
          </a:solidFill>
          <a:ln w="9525">
            <a:solidFill>
              <a:srgbClr val="1A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38744" y="1234440"/>
            <a:ext cx="1901952" cy="54864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3" y="1298448"/>
            <a:ext cx="1719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296"/>
                </a:solidFill>
              </a:rPr>
              <a:t>WK 5
Mar 16–22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0183" y="182880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Reporting
&amp; Alerting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38744" y="2304288"/>
            <a:ext cx="1810512" cy="256032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4464" y="265176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Allure trend reports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4464" y="309067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Threshold alerting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4464" y="35295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CI/CD scheduled runs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3968496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Regression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58984" y="235915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&gt;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95560" y="1234440"/>
            <a:ext cx="1901952" cy="987552"/>
          </a:xfrm>
          <a:prstGeom prst="rect">
            <a:avLst/>
          </a:prstGeom>
          <a:solidFill>
            <a:srgbClr val="0D1D3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95560" y="1234440"/>
            <a:ext cx="1901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7000" y="1298448"/>
            <a:ext cx="1719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</a:rPr>
              <a:t>WK 6
Mar 23–30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182880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Cutover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95560" y="2304288"/>
            <a:ext cx="1810512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41280" y="2651760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7-day parallel run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3090672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Parity validation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3529584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ObservePoint OFF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3968496"/>
            <a:ext cx="18105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8DCE8"/>
                </a:solidFill>
              </a:rPr>
              <a:t>  Full handover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36392" y="4590288"/>
            <a:ext cx="36576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06040" y="523036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</a:rPr>
              <a:t>Wk 1-3
Core flows LIVE
Mar 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65592" y="4590288"/>
            <a:ext cx="36576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35240" y="523036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</a:rPr>
              <a:t>Wk 4-5
Full parity
Mar 22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85832" y="4590288"/>
            <a:ext cx="36576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55480" y="523036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</a:rPr>
              <a:t>Mar 30
CUTOVER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833872"/>
            <a:ext cx="11338560" cy="685800"/>
          </a:xfrm>
          <a:prstGeom prst="rect">
            <a:avLst/>
          </a:prstGeom>
          <a:solidFill>
            <a:srgbClr val="0D1D3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59070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Critical Path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61081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CE8"/>
                </a:solidFill>
              </a:rPr>
              <a:t>All 4 airline flows live by Week 3 (March 8) — delivers 80% of ObservePoint value with 3 weeks to spare. Weeks 4–6 add tag audit, privacy scan, and the cutover buffer.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Where We Lag — and Why It Does Not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8DCE8"/>
                </a:solidFill>
              </a:rPr>
              <a:t>We present gaps transparently. Our assessment: none blocks the cutover.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11338560" cy="144475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72768"/>
            <a:ext cx="64008" cy="1444752"/>
          </a:xfrm>
          <a:prstGeom prst="rect">
            <a:avLst/>
          </a:prstGeom>
          <a:solidFill>
            <a:srgbClr val="D9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No-Code GUI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6712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6B0"/>
                </a:solidFill>
              </a:rPr>
              <a:t>ObservePoint has a point-and-click interface for non-developers.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645920"/>
            <a:ext cx="27432" cy="129844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64592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901952"/>
            <a:ext cx="6217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Our analytics validation is developer-owned. YAML config templates let
analysts update test parameters without writing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0" y="1645920"/>
            <a:ext cx="1298448" cy="329184"/>
          </a:xfrm>
          <a:prstGeom prst="rect">
            <a:avLst/>
          </a:prstGeom>
          <a:solidFill>
            <a:srgbClr val="D9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645920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0F1F"/>
                </a:solidFill>
              </a:rPr>
              <a:t>LOW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27248"/>
            <a:ext cx="11338560" cy="144475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127248"/>
            <a:ext cx="64008" cy="1444752"/>
          </a:xfrm>
          <a:prstGeom prst="rect">
            <a:avLst/>
          </a:prstGeom>
          <a:solidFill>
            <a:srgbClr val="D9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20040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Cloud-Scale Crawling
(20,000+ pages)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2160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6B0"/>
                </a:solidFill>
              </a:rPr>
              <a:t>ObservePoint's cloud scales to 20,000 pages unattended.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200400"/>
            <a:ext cx="27432" cy="129844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32004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MITIGATION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456432"/>
            <a:ext cx="6217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We audited our actual usage: our largest crawl is under 3,000 pages.
We are within Playwright's native capacity. Scaling is available via Crawlee.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3200400"/>
            <a:ext cx="1298448" cy="329184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3200400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0F1F"/>
                </a:solidFill>
              </a:rPr>
              <a:t>NOT APPLICABLE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681728"/>
            <a:ext cx="11338560" cy="144475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681728"/>
            <a:ext cx="64008" cy="1444752"/>
          </a:xfrm>
          <a:prstGeom prst="rect">
            <a:avLst/>
          </a:prstGeom>
          <a:solidFill>
            <a:srgbClr val="D9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75488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Multi-Team Governance
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27608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6B0"/>
                </a:solidFill>
              </a:rPr>
              <a:t>ObservePoint has RBAC, SSO, and cross-team ownership tracking.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754880"/>
            <a:ext cx="27432" cy="129844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39" y="47548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MITIGATION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5010912"/>
            <a:ext cx="6217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DCE8"/>
                </a:solidFill>
              </a:rPr>
              <a:t>We are a single-team user today. Allure Report on a shared server
provides the historical dashboard we actually need.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32720" y="4754880"/>
            <a:ext cx="1298448" cy="329184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4754880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0F1F"/>
                </a:solidFill>
              </a:rPr>
              <a:t>NOT APPLICABLE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" y="164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6B0"/>
                </a:solidFill>
              </a:rPr>
              <a:t>DECISION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Are Asking Leadership to Approve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8288"/>
          </a:xfrm>
          <a:prstGeom prst="rect">
            <a:avLst/>
          </a:prstGeom>
          <a:solidFill>
            <a:srgbClr val="A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11338560" cy="1508760"/>
          </a:xfrm>
          <a:prstGeom prst="rect">
            <a:avLst/>
          </a:prstGeom>
          <a:solidFill>
            <a:srgbClr val="0D1D3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73152" cy="1508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77724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0F1F"/>
                </a:solidFill>
              </a:rPr>
              <a:t>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30759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5331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6-Week Engineering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76479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CE8"/>
                </a:solidFill>
              </a:rPr>
              <a:t>Authorise 240 engineer-hours to complete the platform: all 4 airline flows, SPA handling, tag audit, privacy scan, Allure reporting, and CI/CD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43230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84C"/>
                </a:solidFill>
              </a:rPr>
              <a:t>Delivery by March 22,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89504"/>
            <a:ext cx="11338560" cy="1508760"/>
          </a:xfrm>
          <a:prstGeom prst="rect">
            <a:avLst/>
          </a:prstGeom>
          <a:solidFill>
            <a:srgbClr val="0D1D3A"/>
          </a:solidFill>
          <a:ln w="9525">
            <a:solidFill>
              <a:srgbClr val="27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89504"/>
            <a:ext cx="73152" cy="1508760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99232"/>
            <a:ext cx="777240" cy="292608"/>
          </a:xfrm>
          <a:prstGeom prst="rect">
            <a:avLst/>
          </a:prstGeom>
          <a:solidFill>
            <a:srgbClr val="27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9923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0F1F"/>
                </a:solidFill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2935224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7A360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98094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Infrastructure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9242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CE8"/>
                </a:solidFill>
              </a:rPr>
              <a:t>GitHub Actions compute and Allure Report shared hosting. Estimated cost $0–$200/month. This replaces $2,400/month ObservePoint licence from Day 1 of cutover.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0599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A360"/>
                </a:solidFill>
              </a:rPr>
              <a:t>Budget: &lt;$2,400/year vs $28,800/year today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517136"/>
            <a:ext cx="11338560" cy="1508760"/>
          </a:xfrm>
          <a:prstGeom prst="rect">
            <a:avLst/>
          </a:prstGeom>
          <a:solidFill>
            <a:srgbClr val="0D1D3A"/>
          </a:solidFill>
          <a:ln w="9525">
            <a:solidFill>
              <a:srgbClr val="1A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517136"/>
            <a:ext cx="73152" cy="150876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626864"/>
            <a:ext cx="777240" cy="292608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2686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0F1F"/>
                </a:solidFill>
              </a:rP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562855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296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608575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7-Day Parallel Run (Mar 23–30)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020055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DCE8"/>
                </a:solidFill>
              </a:rPr>
              <a:t>Run both ObservePoint and Playwright simultaneously for 7 days to validate full parity across all flows before decommissioning ObservePoint on March 30.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68756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5296"/>
                </a:solidFill>
              </a:rPr>
              <a:t>Go/No-Go gate before contract 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44768"/>
            <a:ext cx="11338560" cy="384048"/>
          </a:xfrm>
          <a:prstGeom prst="rect">
            <a:avLst/>
          </a:prstGeom>
          <a:solidFill>
            <a:srgbClr val="102010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19963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Expected outcome: ObservePoint OFF March 30  |  Playwright live April 1  |  $26,000+ saved from Year 1  |  Full airline analytics validation maintained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E8CE82"/>
                </a:solidFill>
              </a:rPr>
              <a:t>Questions  &amp; 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7772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70048"/>
            <a:ext cx="5394960" cy="89611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70048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74320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E82"/>
                </a:solidFill>
              </a:rPr>
              <a:t>43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834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to contract end — we have a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21608"/>
            <a:ext cx="5394960" cy="89611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21608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79476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E82"/>
                </a:solidFill>
              </a:rPr>
              <a:t>POC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38862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running today, not a concept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73168"/>
            <a:ext cx="5394960" cy="89611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773168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8463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E82"/>
                </a:solidFill>
              </a:rPr>
              <a:t>4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493775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Booking  MMB  Check-in  Upgrade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70048"/>
            <a:ext cx="5394960" cy="89611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670048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74320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E82"/>
                </a:solidFill>
              </a:rPr>
              <a:t>SPA Solved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834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the problem ObservePoint cannot fix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721608"/>
            <a:ext cx="5394960" cy="89611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21608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379476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E82"/>
                </a:solidFill>
              </a:rPr>
              <a:t>$26,400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8862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saved in Year 1 alone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773168"/>
            <a:ext cx="5394960" cy="896112"/>
          </a:xfrm>
          <a:prstGeom prst="rect">
            <a:avLst/>
          </a:prstGeom>
          <a:solidFill>
            <a:srgbClr val="0D1D3A"/>
          </a:solidFill>
          <a:ln w="9525">
            <a:solidFill>
              <a:srgbClr val="A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773168"/>
            <a:ext cx="53949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8463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E82"/>
                </a:solidFill>
              </a:rPr>
              <a:t>6 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93775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CE8"/>
                </a:solidFill>
              </a:rPr>
              <a:t>to full deployment with parallel run buffer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B0"/>
                </a:solidFill>
              </a:rPr>
              <a:t>Director of Global Sales &amp; Technology  |  Digital Analytics Engineering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